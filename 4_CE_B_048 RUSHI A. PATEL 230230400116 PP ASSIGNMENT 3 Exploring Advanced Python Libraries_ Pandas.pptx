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8128000" cy="4572000"/>
  <p:notesSz cx="8128000" cy="457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523" y="262635"/>
            <a:ext cx="644083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095"/>
            <a:ext cx="8125459" cy="868680"/>
          </a:xfrm>
          <a:custGeom>
            <a:avLst/>
            <a:gdLst/>
            <a:ahLst/>
            <a:cxnLst/>
            <a:rect l="l" t="t" r="r" b="b"/>
            <a:pathLst>
              <a:path w="8125459" h="868680">
                <a:moveTo>
                  <a:pt x="8125968" y="868680"/>
                </a:moveTo>
                <a:lnTo>
                  <a:pt x="0" y="868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868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989" y="137521"/>
            <a:ext cx="7480020" cy="69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2144" y="1038606"/>
            <a:ext cx="5725160" cy="935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Relationship Id="rId4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resentations.ai/?utm_source=free_pdf_download&amp;utm_medium=presentation&amp;utm_campaign=Created%20using%20Presentations.ai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Relationship Id="rId4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hyperlink" Target="https://www.presentations.ai/?utm_source=free_pdf_download&amp;utm_medium=presentation&amp;utm_campaign=Created%20using%20Presentations.ai" TargetMode="External"/><Relationship Id="rId4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22448"/>
            <a:ext cx="8128000" cy="17373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182624"/>
            <a:ext cx="8125459" cy="326390"/>
          </a:xfrm>
          <a:prstGeom prst="rect"/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2124075">
              <a:lnSpc>
                <a:spcPts val="2410"/>
              </a:lnSpc>
            </a:pPr>
            <a:r>
              <a:rPr dirty="0" sz="2700" spc="-100"/>
              <a:t>Exploring</a:t>
            </a:r>
            <a:r>
              <a:rPr dirty="0" sz="2700" spc="35"/>
              <a:t> </a:t>
            </a:r>
            <a:r>
              <a:rPr dirty="0" sz="2700" spc="-20"/>
              <a:t>Advanced</a:t>
            </a:r>
            <a:r>
              <a:rPr dirty="0" sz="2700" spc="-135"/>
              <a:t> </a:t>
            </a:r>
            <a:r>
              <a:rPr dirty="0" sz="2700" spc="-85"/>
              <a:t>Python</a:t>
            </a:r>
            <a:r>
              <a:rPr dirty="0" sz="2700" spc="-100"/>
              <a:t> </a:t>
            </a:r>
            <a:r>
              <a:rPr dirty="0" sz="2700" spc="-40"/>
              <a:t>Libraries:</a:t>
            </a:r>
            <a:endParaRPr sz="2700"/>
          </a:p>
        </p:txBody>
      </p:sp>
      <p:sp>
        <p:nvSpPr>
          <p:cNvPr id="4" name="object 4" descr=""/>
          <p:cNvSpPr txBox="1"/>
          <p:nvPr/>
        </p:nvSpPr>
        <p:spPr>
          <a:xfrm>
            <a:off x="0" y="1578863"/>
            <a:ext cx="8125459" cy="24130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2125345">
              <a:lnSpc>
                <a:spcPts val="1895"/>
              </a:lnSpc>
            </a:pPr>
            <a:r>
              <a:rPr dirty="0" sz="2650" spc="-1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0" y="2017776"/>
            <a:ext cx="8125459" cy="125095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2129790">
              <a:lnSpc>
                <a:spcPts val="919"/>
              </a:lnSpc>
            </a:pP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presentation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explore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capabilities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dirty="0" sz="10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library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data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manipulation,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significance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0" y="2182367"/>
            <a:ext cx="8125459" cy="125095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2131060">
              <a:lnSpc>
                <a:spcPts val="935"/>
              </a:lnSpc>
            </a:pP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9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Arial MT"/>
                <a:cs typeface="Arial MT"/>
              </a:rPr>
              <a:t>analysis,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 and</a:t>
            </a:r>
            <a:r>
              <a:rPr dirty="0" sz="9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applications</a:t>
            </a:r>
            <a:r>
              <a:rPr dirty="0" sz="9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dirty="0" sz="9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dirty="0" sz="9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industries.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05713" y="3630167"/>
            <a:ext cx="793115" cy="100965"/>
          </a:xfrm>
          <a:prstGeom prst="rect">
            <a:avLst/>
          </a:prstGeom>
          <a:solidFill>
            <a:srgbClr val="262D67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Rushi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A.</a:t>
            </a:r>
            <a:r>
              <a:rPr dirty="0" sz="10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Patel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05713" y="3816096"/>
            <a:ext cx="1344295" cy="91440"/>
          </a:xfrm>
          <a:prstGeom prst="rect">
            <a:avLst/>
          </a:prstGeom>
          <a:solidFill>
            <a:srgbClr val="2A2D6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20"/>
              </a:lnSpc>
            </a:pPr>
            <a:r>
              <a:rPr dirty="0" sz="1000" spc="-90">
                <a:solidFill>
                  <a:srgbClr val="FFFFFF"/>
                </a:solidFill>
                <a:latin typeface="Arial MT"/>
                <a:cs typeface="Arial MT"/>
              </a:rPr>
              <a:t>EN.</a:t>
            </a:r>
            <a:r>
              <a:rPr dirty="0" sz="10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dirty="0" sz="1000" spc="-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23020304001ì6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1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Introduction</a:t>
            </a:r>
            <a:r>
              <a:rPr dirty="0" spc="12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dirty="0" spc="-3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dirty="0" spc="-60">
                <a:latin typeface="Calibri"/>
                <a:cs typeface="Calibri"/>
              </a:rPr>
              <a:t> </a:t>
            </a:r>
            <a:r>
              <a:rPr dirty="0" spc="75">
                <a:latin typeface="Calibri"/>
                <a:cs typeface="Calibri"/>
              </a:rPr>
              <a:t>Pandas</a:t>
            </a:r>
            <a:r>
              <a:rPr dirty="0" spc="1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Library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0" y="1158239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80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1365503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80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1658111"/>
            <a:ext cx="8125459" cy="100965"/>
          </a:xfrm>
          <a:custGeom>
            <a:avLst/>
            <a:gdLst/>
            <a:ahLst/>
            <a:cxnLst/>
            <a:rect l="l" t="t" r="r" b="b"/>
            <a:pathLst>
              <a:path w="8125459" h="100964">
                <a:moveTo>
                  <a:pt x="8125968" y="100584"/>
                </a:moveTo>
                <a:lnTo>
                  <a:pt x="0" y="100584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0584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1859279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80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017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710"/>
              </a:spcBef>
            </a:pPr>
            <a:r>
              <a:rPr dirty="0"/>
              <a:t>0</a:t>
            </a:r>
            <a:r>
              <a:rPr dirty="0" spc="215"/>
              <a:t>  </a:t>
            </a:r>
            <a:r>
              <a:rPr dirty="0"/>
              <a:t>Overview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Pandas</a:t>
            </a:r>
          </a:p>
          <a:p>
            <a:pPr marL="224790">
              <a:lnSpc>
                <a:spcPct val="100000"/>
              </a:lnSpc>
              <a:spcBef>
                <a:spcPts val="484"/>
              </a:spcBef>
            </a:pPr>
            <a:r>
              <a:rPr dirty="0" sz="800" spc="-25"/>
              <a:t>Pandas</a:t>
            </a:r>
            <a:r>
              <a:rPr dirty="0" sz="800" spc="-10"/>
              <a:t> </a:t>
            </a:r>
            <a:r>
              <a:rPr dirty="0" sz="800"/>
              <a:t>is</a:t>
            </a:r>
            <a:r>
              <a:rPr dirty="0" sz="800" spc="-25"/>
              <a:t> </a:t>
            </a:r>
            <a:r>
              <a:rPr dirty="0" sz="800"/>
              <a:t>an</a:t>
            </a:r>
            <a:r>
              <a:rPr dirty="0" sz="800" spc="-20"/>
              <a:t> open-</a:t>
            </a:r>
            <a:r>
              <a:rPr dirty="0" sz="800"/>
              <a:t>source</a:t>
            </a:r>
            <a:r>
              <a:rPr dirty="0" sz="800" spc="70"/>
              <a:t> </a:t>
            </a:r>
            <a:r>
              <a:rPr dirty="0" sz="800" spc="-10"/>
              <a:t>data</a:t>
            </a:r>
            <a:r>
              <a:rPr dirty="0" sz="800" spc="-35"/>
              <a:t> </a:t>
            </a:r>
            <a:r>
              <a:rPr dirty="0" sz="800" spc="-10"/>
              <a:t>analysis</a:t>
            </a:r>
            <a:r>
              <a:rPr dirty="0" sz="800" spc="40"/>
              <a:t> </a:t>
            </a:r>
            <a:r>
              <a:rPr dirty="0" sz="800" spc="-20"/>
              <a:t>and</a:t>
            </a:r>
            <a:r>
              <a:rPr dirty="0" sz="800" spc="-15"/>
              <a:t> </a:t>
            </a:r>
            <a:r>
              <a:rPr dirty="0" sz="800"/>
              <a:t>manipulation</a:t>
            </a:r>
            <a:r>
              <a:rPr dirty="0" sz="800" spc="40"/>
              <a:t> </a:t>
            </a:r>
            <a:r>
              <a:rPr dirty="0" sz="800"/>
              <a:t>library</a:t>
            </a:r>
            <a:r>
              <a:rPr dirty="0" sz="800" spc="20"/>
              <a:t> </a:t>
            </a:r>
            <a:r>
              <a:rPr dirty="0" sz="800"/>
              <a:t>for</a:t>
            </a:r>
            <a:r>
              <a:rPr dirty="0" sz="800" spc="-20"/>
              <a:t> </a:t>
            </a:r>
            <a:r>
              <a:rPr dirty="0" sz="800" spc="-10"/>
              <a:t>Python,</a:t>
            </a:r>
            <a:r>
              <a:rPr dirty="0" sz="800" spc="-20"/>
              <a:t> </a:t>
            </a:r>
            <a:r>
              <a:rPr dirty="0" sz="800"/>
              <a:t>established</a:t>
            </a:r>
            <a:r>
              <a:rPr dirty="0" sz="800" spc="65"/>
              <a:t> </a:t>
            </a:r>
            <a:r>
              <a:rPr dirty="0" sz="800"/>
              <a:t>in</a:t>
            </a:r>
            <a:r>
              <a:rPr dirty="0" sz="800" spc="5"/>
              <a:t> </a:t>
            </a:r>
            <a:r>
              <a:rPr dirty="0" sz="800"/>
              <a:t>2008 by</a:t>
            </a:r>
            <a:r>
              <a:rPr dirty="0" sz="800" spc="-30"/>
              <a:t> </a:t>
            </a:r>
            <a:r>
              <a:rPr dirty="0" sz="800" spc="-45"/>
              <a:t>Wes</a:t>
            </a:r>
            <a:r>
              <a:rPr dirty="0" sz="800" spc="-10"/>
              <a:t> </a:t>
            </a:r>
            <a:r>
              <a:rPr dirty="0" sz="800" spc="-30"/>
              <a:t>McKin</a:t>
            </a:r>
            <a:r>
              <a:rPr dirty="0" sz="800" spc="-140"/>
              <a:t> </a:t>
            </a:r>
            <a:r>
              <a:rPr dirty="0" sz="800" spc="-20"/>
              <a:t>ney.</a:t>
            </a:r>
            <a:endParaRPr sz="800"/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800"/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19075" algn="l"/>
              </a:tabLst>
            </a:pPr>
            <a:r>
              <a:rPr dirty="0" sz="950" spc="-50">
                <a:latin typeface="Calibri"/>
                <a:cs typeface="Calibri"/>
              </a:rPr>
              <a:t>0</a:t>
            </a:r>
            <a:r>
              <a:rPr dirty="0" sz="950">
                <a:latin typeface="Calibri"/>
                <a:cs typeface="Calibri"/>
              </a:rPr>
              <a:t>	</a:t>
            </a:r>
            <a:r>
              <a:rPr dirty="0" sz="950" spc="85">
                <a:latin typeface="Calibri"/>
                <a:cs typeface="Calibri"/>
              </a:rPr>
              <a:t>DotoFrome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60">
                <a:latin typeface="Calibri"/>
                <a:cs typeface="Calibri"/>
              </a:rPr>
              <a:t>Structure</a:t>
            </a:r>
            <a:endParaRPr sz="95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  <a:spcBef>
                <a:spcPts val="420"/>
              </a:spcBef>
            </a:pPr>
            <a:r>
              <a:rPr dirty="0" sz="900" spc="-165"/>
              <a:t>A</a:t>
            </a:r>
            <a:r>
              <a:rPr dirty="0" sz="900" spc="-25"/>
              <a:t> </a:t>
            </a:r>
            <a:r>
              <a:rPr dirty="0" sz="900" spc="-75"/>
              <a:t>DataFrame</a:t>
            </a:r>
            <a:r>
              <a:rPr dirty="0" sz="900" spc="55"/>
              <a:t> </a:t>
            </a:r>
            <a:r>
              <a:rPr dirty="0" sz="900" spc="-75"/>
              <a:t>is</a:t>
            </a:r>
            <a:r>
              <a:rPr dirty="0" sz="900" spc="-25"/>
              <a:t> </a:t>
            </a:r>
            <a:r>
              <a:rPr dirty="0" sz="900" spc="-90"/>
              <a:t>a</a:t>
            </a:r>
            <a:r>
              <a:rPr dirty="0" sz="900" spc="-45"/>
              <a:t> </a:t>
            </a:r>
            <a:r>
              <a:rPr dirty="0" sz="900" spc="-40"/>
              <a:t>two-dimensional,</a:t>
            </a:r>
            <a:r>
              <a:rPr dirty="0" sz="900" spc="-55"/>
              <a:t> size-</a:t>
            </a:r>
            <a:r>
              <a:rPr dirty="0" sz="900" spc="-45"/>
              <a:t>mutable,</a:t>
            </a:r>
            <a:r>
              <a:rPr dirty="0" sz="900" spc="70"/>
              <a:t> </a:t>
            </a:r>
            <a:r>
              <a:rPr dirty="0" sz="900" spc="-85"/>
              <a:t>and</a:t>
            </a:r>
            <a:r>
              <a:rPr dirty="0" sz="900" spc="-20"/>
              <a:t> </a:t>
            </a:r>
            <a:r>
              <a:rPr dirty="0" sz="900" spc="-30"/>
              <a:t>potentially</a:t>
            </a:r>
            <a:r>
              <a:rPr dirty="0" sz="900" spc="65"/>
              <a:t> </a:t>
            </a:r>
            <a:r>
              <a:rPr dirty="0" sz="900" spc="-60"/>
              <a:t>heterogeneous</a:t>
            </a:r>
            <a:r>
              <a:rPr dirty="0" sz="900" spc="60"/>
              <a:t> </a:t>
            </a:r>
            <a:r>
              <a:rPr dirty="0" sz="900" spc="-35"/>
              <a:t>tabular</a:t>
            </a:r>
            <a:r>
              <a:rPr dirty="0" sz="900" spc="15"/>
              <a:t> </a:t>
            </a:r>
            <a:r>
              <a:rPr dirty="0" sz="900" spc="-55"/>
              <a:t>data</a:t>
            </a:r>
            <a:r>
              <a:rPr dirty="0" sz="900" spc="-10"/>
              <a:t> </a:t>
            </a:r>
            <a:r>
              <a:rPr dirty="0" sz="900" spc="-40"/>
              <a:t>structure</a:t>
            </a:r>
            <a:r>
              <a:rPr dirty="0" sz="900" spc="50"/>
              <a:t> </a:t>
            </a:r>
            <a:r>
              <a:rPr dirty="0" sz="900" spc="-30"/>
              <a:t>with</a:t>
            </a:r>
            <a:r>
              <a:rPr dirty="0" sz="900" spc="-10"/>
              <a:t> </a:t>
            </a:r>
            <a:r>
              <a:rPr dirty="0" sz="900" spc="-45"/>
              <a:t>labeled</a:t>
            </a:r>
            <a:r>
              <a:rPr dirty="0" sz="900" spc="15"/>
              <a:t> </a:t>
            </a:r>
            <a:r>
              <a:rPr dirty="0" sz="900" spc="-10"/>
              <a:t>axes.</a:t>
            </a:r>
            <a:endParaRPr sz="900"/>
          </a:p>
        </p:txBody>
      </p:sp>
      <p:sp>
        <p:nvSpPr>
          <p:cNvPr id="8" name="object 8" descr=""/>
          <p:cNvSpPr txBox="1"/>
          <p:nvPr/>
        </p:nvSpPr>
        <p:spPr>
          <a:xfrm>
            <a:off x="0" y="2145792"/>
            <a:ext cx="8125459" cy="13716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36550">
              <a:lnSpc>
                <a:spcPts val="969"/>
              </a:lnSpc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dirty="0" sz="1000" spc="204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000" spc="50">
                <a:solidFill>
                  <a:srgbClr val="FFFFFF"/>
                </a:solidFill>
                <a:latin typeface="Calibri"/>
                <a:cs typeface="Calibri"/>
              </a:rPr>
              <a:t>Series</a:t>
            </a:r>
            <a:r>
              <a:rPr dirty="0" sz="1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35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0" y="2353055"/>
            <a:ext cx="8125459" cy="10668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508634">
              <a:lnSpc>
                <a:spcPts val="795"/>
              </a:lnSpc>
            </a:pPr>
            <a:r>
              <a:rPr dirty="0" sz="850" spc="-13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75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one-dimensional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labeled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array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capable</a:t>
            </a:r>
            <a:r>
              <a:rPr dirty="0" sz="8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holding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dirty="0" sz="8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type,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simplifying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handling.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0" y="2639567"/>
            <a:ext cx="8125459" cy="13716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36550">
              <a:lnSpc>
                <a:spcPts val="980"/>
              </a:lnSpc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dirty="0" sz="1050" spc="3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Alignment</a:t>
            </a:r>
            <a:r>
              <a:rPr dirty="0" sz="10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0" y="2846832"/>
            <a:ext cx="8125459" cy="10668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506095">
              <a:lnSpc>
                <a:spcPts val="795"/>
              </a:lnSpc>
            </a:pPr>
            <a:r>
              <a:rPr dirty="0" sz="850" spc="-55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dirty="0" sz="8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automatic</a:t>
            </a:r>
            <a:r>
              <a:rPr dirty="0" sz="8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alignment</a:t>
            </a:r>
            <a:r>
              <a:rPr dirty="0" sz="8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85">
                <a:solidFill>
                  <a:srgbClr val="FFFFFF"/>
                </a:solidFill>
                <a:latin typeface="Arial MT"/>
                <a:cs typeface="Arial MT"/>
              </a:rPr>
              <a:t>Jor</a:t>
            </a:r>
            <a:r>
              <a:rPr dirty="0" sz="8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5">
                <a:solidFill>
                  <a:srgbClr val="FFFFFF"/>
                </a:solidFill>
                <a:latin typeface="Arial MT"/>
                <a:cs typeface="Arial MT"/>
              </a:rPr>
              <a:t>easy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merging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joini</a:t>
            </a:r>
            <a:r>
              <a:rPr dirty="0" sz="8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ng</a:t>
            </a:r>
            <a:r>
              <a:rPr dirty="0" sz="8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8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datasets,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enhancing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usability.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0" y="3133344"/>
            <a:ext cx="8125459" cy="14351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37185">
              <a:lnSpc>
                <a:spcPts val="960"/>
              </a:lnSpc>
            </a:pPr>
            <a:r>
              <a:rPr dirty="0" sz="950" spc="1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dirty="0" sz="950" spc="21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950" spc="10">
                <a:solidFill>
                  <a:srgbClr val="FFFFFF"/>
                </a:solidFill>
                <a:latin typeface="Arial MT"/>
                <a:cs typeface="Arial MT"/>
              </a:rPr>
              <a:t>Flexible</a:t>
            </a:r>
            <a:r>
              <a:rPr dirty="0" sz="9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solidFill>
                  <a:srgbClr val="FFFFFF"/>
                </a:solidFill>
                <a:latin typeface="Arial MT"/>
                <a:cs typeface="Arial MT"/>
              </a:rPr>
              <a:t>Reshaping</a:t>
            </a:r>
            <a:r>
              <a:rPr dirty="0" sz="9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0" y="3346703"/>
            <a:ext cx="8125459" cy="10668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506095">
              <a:lnSpc>
                <a:spcPts val="805"/>
              </a:lnSpc>
            </a:pPr>
            <a:r>
              <a:rPr dirty="0" sz="900" spc="-9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offers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9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MT"/>
                <a:cs typeface="Arial MT"/>
              </a:rPr>
              <a:t>reshaping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8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pivoting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datasets,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60">
                <a:solidFill>
                  <a:srgbClr val="FFFFFF"/>
                </a:solidFill>
                <a:latin typeface="Arial MT"/>
                <a:cs typeface="Arial MT"/>
              </a:rPr>
              <a:t>making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6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manipulation</a:t>
            </a:r>
            <a:r>
              <a:rPr dirty="0" sz="9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straightforward.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0" y="3633215"/>
            <a:ext cx="8125459" cy="13716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16230">
              <a:lnSpc>
                <a:spcPts val="969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dirty="0" sz="1000" spc="29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Handling</a:t>
            </a:r>
            <a:r>
              <a:rPr dirty="0" sz="10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Various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Formats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0" y="3840479"/>
            <a:ext cx="8125459" cy="106680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506095">
              <a:lnSpc>
                <a:spcPts val="795"/>
              </a:lnSpc>
            </a:pP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fibrary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5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8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dirty="0" sz="8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formats,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including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20">
                <a:solidFill>
                  <a:srgbClr val="FFFFFF"/>
                </a:solidFill>
                <a:latin typeface="Arial MT"/>
                <a:cs typeface="Arial MT"/>
              </a:rPr>
              <a:t>CSV,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Excel,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14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FFFFFF"/>
                </a:solidFill>
                <a:latin typeface="Arial MT"/>
                <a:cs typeface="Arial MT"/>
              </a:rPr>
              <a:t>databases,</a:t>
            </a:r>
            <a:r>
              <a:rPr dirty="0" sz="8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8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versatile</a:t>
            </a:r>
            <a:r>
              <a:rPr dirty="0" sz="8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45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analysis.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4224528"/>
            <a:ext cx="8125459" cy="119380"/>
          </a:xfrm>
          <a:custGeom>
            <a:avLst/>
            <a:gdLst/>
            <a:ahLst/>
            <a:cxnLst/>
            <a:rect l="l" t="t" r="r" b="b"/>
            <a:pathLst>
              <a:path w="8125459" h="119379">
                <a:moveTo>
                  <a:pt x="8125968" y="118872"/>
                </a:moveTo>
                <a:lnTo>
                  <a:pt x="0" y="118872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8872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720870" y="4223765"/>
            <a:ext cx="1035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3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ea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038748" y="4223765"/>
            <a:ext cx="577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g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67709" y="4223765"/>
            <a:ext cx="6477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proseutotionsœ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6319"/>
            <a:ext cx="8124952" cy="331012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6095"/>
            <a:ext cx="8125459" cy="868680"/>
          </a:xfrm>
          <a:custGeom>
            <a:avLst/>
            <a:gdLst/>
            <a:ahLst/>
            <a:cxnLst/>
            <a:rect l="l" t="t" r="r" b="b"/>
            <a:pathLst>
              <a:path w="8125459" h="868680">
                <a:moveTo>
                  <a:pt x="8125968" y="868680"/>
                </a:moveTo>
                <a:lnTo>
                  <a:pt x="0" y="868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868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0"/>
              </a:spcBef>
            </a:pPr>
            <a:r>
              <a:rPr dirty="0" sz="2100" spc="-95"/>
              <a:t>Essential</a:t>
            </a:r>
            <a:r>
              <a:rPr dirty="0" sz="2100" spc="-55"/>
              <a:t> </a:t>
            </a:r>
            <a:r>
              <a:rPr dirty="0" sz="2100"/>
              <a:t>Data</a:t>
            </a:r>
            <a:r>
              <a:rPr dirty="0" sz="2100" spc="-5"/>
              <a:t> </a:t>
            </a:r>
            <a:r>
              <a:rPr dirty="0" sz="2100" spc="-85"/>
              <a:t>Analysis</a:t>
            </a:r>
            <a:r>
              <a:rPr dirty="0" sz="2100" spc="5"/>
              <a:t> </a:t>
            </a:r>
            <a:r>
              <a:rPr dirty="0" sz="2100" spc="-55"/>
              <a:t>Techniques</a:t>
            </a:r>
            <a:endParaRPr sz="2100"/>
          </a:p>
          <a:p>
            <a:pPr marL="16510">
              <a:lnSpc>
                <a:spcPct val="100000"/>
              </a:lnSpc>
              <a:spcBef>
                <a:spcPts val="450"/>
              </a:spcBef>
            </a:pPr>
            <a:r>
              <a:rPr dirty="0" sz="1000" spc="-85"/>
              <a:t>Key</a:t>
            </a:r>
            <a:r>
              <a:rPr dirty="0" sz="1000" spc="-5"/>
              <a:t> </a:t>
            </a:r>
            <a:r>
              <a:rPr dirty="0" sz="1000" spc="-25"/>
              <a:t>methods</a:t>
            </a:r>
            <a:r>
              <a:rPr dirty="0" sz="1000" spc="30"/>
              <a:t> </a:t>
            </a:r>
            <a:r>
              <a:rPr dirty="0" sz="1000" spc="-20"/>
              <a:t>for</a:t>
            </a:r>
            <a:r>
              <a:rPr dirty="0" sz="1000" spc="-15"/>
              <a:t> </a:t>
            </a:r>
            <a:r>
              <a:rPr dirty="0" sz="1000" spc="-25"/>
              <a:t>extracting</a:t>
            </a:r>
            <a:r>
              <a:rPr dirty="0" sz="1000" spc="-45"/>
              <a:t> </a:t>
            </a:r>
            <a:r>
              <a:rPr dirty="0" sz="1000" spc="-25"/>
              <a:t>data</a:t>
            </a:r>
            <a:r>
              <a:rPr dirty="0" sz="1000" spc="-35"/>
              <a:t> </a:t>
            </a:r>
            <a:r>
              <a:rPr dirty="0" sz="1000" spc="-10"/>
              <a:t>insights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71856"/>
            <a:ext cx="8125459" cy="253365"/>
          </a:xfrm>
          <a:prstGeom prst="rect"/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38455">
              <a:lnSpc>
                <a:spcPts val="1860"/>
              </a:lnSpc>
            </a:pPr>
            <a:r>
              <a:rPr dirty="0" sz="2100" spc="-80"/>
              <a:t>Exploring</a:t>
            </a:r>
            <a:r>
              <a:rPr dirty="0" sz="2100" spc="-65"/>
              <a:t> </a:t>
            </a:r>
            <a:r>
              <a:rPr dirty="0" sz="2100" spc="-30"/>
              <a:t>Statistical</a:t>
            </a:r>
            <a:r>
              <a:rPr dirty="0" sz="2100" spc="-90"/>
              <a:t> </a:t>
            </a:r>
            <a:r>
              <a:rPr dirty="0" sz="2100" spc="-30"/>
              <a:t>Methods</a:t>
            </a:r>
            <a:r>
              <a:rPr dirty="0" sz="2100" spc="-80"/>
              <a:t> </a:t>
            </a:r>
            <a:r>
              <a:rPr dirty="0" sz="2100" spc="-25"/>
              <a:t>in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0" y="694944"/>
            <a:ext cx="8125459" cy="192405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335915">
              <a:lnSpc>
                <a:spcPts val="1510"/>
              </a:lnSpc>
            </a:pPr>
            <a:r>
              <a:rPr dirty="0" sz="2200" spc="45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0" y="1054608"/>
            <a:ext cx="8125459" cy="314325"/>
          </a:xfrm>
          <a:custGeom>
            <a:avLst/>
            <a:gdLst/>
            <a:ahLst/>
            <a:cxnLst/>
            <a:rect l="l" t="t" r="r" b="b"/>
            <a:pathLst>
              <a:path w="8125459" h="314325">
                <a:moveTo>
                  <a:pt x="8125968" y="313944"/>
                </a:moveTo>
                <a:lnTo>
                  <a:pt x="0" y="313944"/>
                </a:lnTo>
                <a:lnTo>
                  <a:pt x="0" y="0"/>
                </a:lnTo>
                <a:lnTo>
                  <a:pt x="8125968" y="0"/>
                </a:lnTo>
                <a:lnTo>
                  <a:pt x="8125968" y="313944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29404" y="1022096"/>
            <a:ext cx="2348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dirty="0" sz="90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statistical</a:t>
            </a:r>
            <a:r>
              <a:rPr dirty="0" sz="9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tech</a:t>
            </a:r>
            <a:r>
              <a:rPr dirty="0" sz="9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niques</a:t>
            </a:r>
            <a:r>
              <a:rPr dirty="0" sz="9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offered</a:t>
            </a:r>
            <a:r>
              <a:rPr dirty="0" sz="9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9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93192" y="1015491"/>
            <a:ext cx="939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55026" y="940646"/>
            <a:ext cx="2652395" cy="42354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Pnndo</a:t>
            </a:r>
            <a:r>
              <a:rPr dirty="0" sz="1000" spc="3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soffers</a:t>
            </a:r>
            <a:r>
              <a:rPr dirty="0" sz="1000" spc="48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diverse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statistical</a:t>
            </a:r>
            <a:r>
              <a:rPr dirty="0" sz="10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methods</a:t>
            </a:r>
            <a:r>
              <a:rPr dirty="0" sz="10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endParaRPr sz="1000">
              <a:latin typeface="Arial MT"/>
              <a:cs typeface="Arial MT"/>
            </a:endParaRPr>
          </a:p>
          <a:p>
            <a:pPr marL="359410">
              <a:lnSpc>
                <a:spcPct val="100000"/>
              </a:lnSpc>
              <a:spcBef>
                <a:spcPts val="440"/>
              </a:spcBef>
            </a:pPr>
            <a:r>
              <a:rPr dirty="0" sz="750" spc="-5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1578863"/>
            <a:ext cx="8125459" cy="390525"/>
            <a:chOff x="0" y="1578863"/>
            <a:chExt cx="8125459" cy="39052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4762" y="1725168"/>
              <a:ext cx="42666" cy="15849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00571" y="1618487"/>
              <a:ext cx="1188571" cy="35051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0" y="1578863"/>
              <a:ext cx="8125459" cy="387350"/>
            </a:xfrm>
            <a:custGeom>
              <a:avLst/>
              <a:gdLst/>
              <a:ahLst/>
              <a:cxnLst/>
              <a:rect l="l" t="t" r="r" b="b"/>
              <a:pathLst>
                <a:path w="8125459" h="387350">
                  <a:moveTo>
                    <a:pt x="8125968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387096"/>
                  </a:lnTo>
                  <a:close/>
                </a:path>
              </a:pathLst>
            </a:custGeom>
            <a:solidFill>
              <a:srgbClr val="2A2D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83796" y="1553717"/>
            <a:ext cx="89471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60">
                <a:solidFill>
                  <a:srgbClr val="FFFFFF"/>
                </a:solidFill>
                <a:latin typeface="Calibri"/>
                <a:cs typeface="Calibri"/>
              </a:rPr>
              <a:t>Descriptive</a:t>
            </a:r>
            <a:r>
              <a:rPr dirty="0" sz="6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 spc="30">
                <a:solidFill>
                  <a:srgbClr val="FFFFFF"/>
                </a:solidFill>
                <a:latin typeface="Calibri"/>
                <a:cs typeface="Calibri"/>
              </a:rPr>
              <a:t>Stati</a:t>
            </a:r>
            <a:r>
              <a:rPr dirty="0" sz="6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" spc="45">
                <a:solidFill>
                  <a:srgbClr val="FFFFFF"/>
                </a:solidFill>
                <a:latin typeface="Calibri"/>
                <a:cs typeface="Calibri"/>
              </a:rPr>
              <a:t>stics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554159" y="1622043"/>
            <a:ext cx="2439670" cy="373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3999"/>
              </a:lnSpc>
              <a:spcBef>
                <a:spcPts val="100"/>
              </a:spcBef>
            </a:pPr>
            <a:r>
              <a:rPr dirty="0" sz="1000" spc="55">
                <a:solidFill>
                  <a:srgbClr val="FFFFFF"/>
                </a:solidFill>
                <a:latin typeface="Calibri"/>
                <a:cs typeface="Calibri"/>
              </a:rPr>
              <a:t>Descriptive</a:t>
            </a:r>
            <a:r>
              <a:rPr dirty="0" sz="10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dirty="0" sz="1000" spc="75">
                <a:solidFill>
                  <a:srgbClr val="FFFFFF"/>
                </a:solidFill>
                <a:latin typeface="Calibri"/>
                <a:cs typeface="Calibri"/>
              </a:rPr>
              <a:t> summarize</a:t>
            </a:r>
            <a:r>
              <a:rPr dirty="0" sz="10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FFFFFF"/>
                </a:solidFill>
                <a:latin typeface="Calibri"/>
                <a:cs typeface="Calibri"/>
              </a:rPr>
              <a:t>dataset </a:t>
            </a:r>
            <a:r>
              <a:rPr dirty="0" sz="1000" spc="60">
                <a:solidFill>
                  <a:srgbClr val="FFFFFF"/>
                </a:solidFill>
                <a:latin typeface="Calibri"/>
                <a:cs typeface="Calibri"/>
              </a:rPr>
              <a:t>characteristics.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0" y="2017776"/>
            <a:ext cx="8125459" cy="94615"/>
          </a:xfrm>
          <a:prstGeom prst="rect">
            <a:avLst/>
          </a:prstGeom>
          <a:solidFill>
            <a:srgbClr val="2A2D6B"/>
          </a:solidFill>
        </p:spPr>
        <p:txBody>
          <a:bodyPr wrap="square" lIns="0" tIns="0" rIns="0" bIns="0" rtlCol="0" vert="horz">
            <a:spAutoFit/>
          </a:bodyPr>
          <a:lstStyle/>
          <a:p>
            <a:pPr marL="594360">
              <a:lnSpc>
                <a:spcPts val="735"/>
              </a:lnSpc>
            </a:pP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Hypothesis</a:t>
            </a:r>
            <a:r>
              <a:rPr dirty="0" sz="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2157983"/>
            <a:ext cx="8125459" cy="1027430"/>
            <a:chOff x="0" y="2157983"/>
            <a:chExt cx="8125459" cy="1027430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1427" y="2791967"/>
              <a:ext cx="237714" cy="23774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1427" y="2282951"/>
              <a:ext cx="237714" cy="24079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999" y="2322575"/>
              <a:ext cx="67047" cy="1524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999" y="2487167"/>
              <a:ext cx="67047" cy="18592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0" y="2157983"/>
              <a:ext cx="8125459" cy="1027430"/>
            </a:xfrm>
            <a:custGeom>
              <a:avLst/>
              <a:gdLst/>
              <a:ahLst/>
              <a:cxnLst/>
              <a:rect l="l" t="t" r="r" b="b"/>
              <a:pathLst>
                <a:path w="8125459" h="1027430">
                  <a:moveTo>
                    <a:pt x="8125968" y="1027176"/>
                  </a:moveTo>
                  <a:lnTo>
                    <a:pt x="0" y="1027176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1027176"/>
                  </a:lnTo>
                  <a:close/>
                </a:path>
              </a:pathLst>
            </a:custGeom>
            <a:solidFill>
              <a:srgbClr val="2A2D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5442" y="2415539"/>
            <a:ext cx="8293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60">
                <a:solidFill>
                  <a:srgbClr val="FFFFFF"/>
                </a:solidFill>
                <a:latin typeface="Arial MT"/>
                <a:cs typeface="Arial MT"/>
              </a:rPr>
              <a:t>Regression</a:t>
            </a:r>
            <a:r>
              <a:rPr dirty="0" sz="8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5250" y="2870200"/>
            <a:ext cx="86106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7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dirty="0" sz="7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567355" y="2295651"/>
            <a:ext cx="29660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Hypothesis</a:t>
            </a:r>
            <a:r>
              <a:rPr dirty="0" sz="10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testing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allows</a:t>
            </a:r>
            <a:r>
              <a:rPr dirty="0" sz="10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20">
                <a:solidFill>
                  <a:srgbClr val="FFFFFF"/>
                </a:solidFill>
                <a:latin typeface="Arial MT"/>
                <a:cs typeface="Arial MT"/>
              </a:rPr>
              <a:t>statistical</a:t>
            </a:r>
            <a:r>
              <a:rPr dirty="0" sz="10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validation.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568041" y="2811017"/>
            <a:ext cx="284480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Regression</a:t>
            </a:r>
            <a:r>
              <a:rPr dirty="0" sz="9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9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FFFFFF"/>
                </a:solidFill>
                <a:latin typeface="Arial MT"/>
                <a:cs typeface="Arial MT"/>
              </a:rPr>
              <a:t>aids</a:t>
            </a:r>
            <a:r>
              <a:rPr dirty="0" sz="9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Arial MT"/>
                <a:cs typeface="Arial MT"/>
              </a:rPr>
              <a:t>predictive</a:t>
            </a:r>
            <a:r>
              <a:rPr dirty="0" sz="9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40">
                <a:solidFill>
                  <a:srgbClr val="FFFFFF"/>
                </a:solidFill>
                <a:latin typeface="Arial MT"/>
                <a:cs typeface="Arial MT"/>
              </a:rPr>
              <a:t>modeling.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0" y="3291840"/>
            <a:ext cx="8125459" cy="332740"/>
            <a:chOff x="0" y="3291840"/>
            <a:chExt cx="8125459" cy="332740"/>
          </a:xfrm>
        </p:grpSpPr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1427" y="3300984"/>
              <a:ext cx="237714" cy="23774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0" y="3291840"/>
              <a:ext cx="8125459" cy="332740"/>
            </a:xfrm>
            <a:custGeom>
              <a:avLst/>
              <a:gdLst/>
              <a:ahLst/>
              <a:cxnLst/>
              <a:rect l="l" t="t" r="r" b="b"/>
              <a:pathLst>
                <a:path w="8125459" h="332739">
                  <a:moveTo>
                    <a:pt x="8125968" y="332232"/>
                  </a:moveTo>
                  <a:lnTo>
                    <a:pt x="0" y="332232"/>
                  </a:lnTo>
                  <a:lnTo>
                    <a:pt x="0" y="0"/>
                  </a:lnTo>
                  <a:lnTo>
                    <a:pt x="8125968" y="0"/>
                  </a:lnTo>
                  <a:lnTo>
                    <a:pt x="8125968" y="332232"/>
                  </a:lnTo>
                  <a:close/>
                </a:path>
              </a:pathLst>
            </a:custGeom>
            <a:solidFill>
              <a:srgbClr val="2A2D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84360" y="3315461"/>
            <a:ext cx="75882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6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FFFFFF"/>
                </a:solidFill>
                <a:latin typeface="Arial MT"/>
                <a:cs typeface="Arial MT"/>
              </a:rPr>
              <a:t>Vis</a:t>
            </a:r>
            <a:r>
              <a:rPr dirty="0" sz="6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FFFFFF"/>
                </a:solidFill>
                <a:latin typeface="Arial MT"/>
                <a:cs typeface="Arial MT"/>
              </a:rPr>
              <a:t>ualization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606341" y="3479800"/>
            <a:ext cx="1282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FFFFFF"/>
                </a:solidFill>
                <a:latin typeface="Consolas"/>
                <a:cs typeface="Consolas"/>
              </a:rPr>
              <a:t>60</a:t>
            </a:r>
            <a:endParaRPr sz="70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558949" y="3320033"/>
            <a:ext cx="304736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9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series</a:t>
            </a:r>
            <a:r>
              <a:rPr dirty="0" sz="9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9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0">
                <a:solidFill>
                  <a:srgbClr val="FFFFFF"/>
                </a:solidFill>
                <a:latin typeface="Arial MT"/>
                <a:cs typeface="Arial MT"/>
              </a:rPr>
              <a:t>helps</a:t>
            </a:r>
            <a:r>
              <a:rPr dirty="0" sz="9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5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55">
                <a:solidFill>
                  <a:srgbClr val="FFFFFF"/>
                </a:solidFill>
                <a:latin typeface="Arial MT"/>
                <a:cs typeface="Arial MT"/>
              </a:rPr>
              <a:t>understanding</a:t>
            </a:r>
            <a:r>
              <a:rPr dirty="0" sz="9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Arial MT"/>
                <a:cs typeface="Arial MT"/>
              </a:rPr>
              <a:t>trends.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0" y="3877055"/>
            <a:ext cx="8125459" cy="685800"/>
          </a:xfrm>
          <a:custGeom>
            <a:avLst/>
            <a:gdLst/>
            <a:ahLst/>
            <a:cxnLst/>
            <a:rect l="l" t="t" r="r" b="b"/>
            <a:pathLst>
              <a:path w="8125459" h="685800">
                <a:moveTo>
                  <a:pt x="8125968" y="685800"/>
                </a:moveTo>
                <a:lnTo>
                  <a:pt x="0" y="685800"/>
                </a:lnTo>
                <a:lnTo>
                  <a:pt x="0" y="0"/>
                </a:lnTo>
                <a:lnTo>
                  <a:pt x="8125968" y="0"/>
                </a:lnTo>
                <a:lnTo>
                  <a:pt x="8125968" y="685800"/>
                </a:lnTo>
                <a:close/>
              </a:path>
            </a:pathLst>
          </a:custGeom>
          <a:solidFill>
            <a:srgbClr val="2A2D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641242" y="3856735"/>
            <a:ext cx="9372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10">
                <a:solidFill>
                  <a:srgbClr val="FFFFFF"/>
                </a:solidFill>
                <a:latin typeface="Calibri"/>
                <a:cs typeface="Calibri"/>
              </a:rPr>
              <a:t>Statistical</a:t>
            </a:r>
            <a:r>
              <a:rPr dirty="0" sz="9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720870" y="4223765"/>
            <a:ext cx="1035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30">
                <a:solidFill>
                  <a:srgbClr val="FFFFFF"/>
                </a:solidFill>
                <a:latin typeface="Consolas"/>
                <a:cs typeface="Consolas"/>
                <a:hlinkClick r:id="rId9"/>
              </a:rPr>
              <a:t>ea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038748" y="4223765"/>
            <a:ext cx="577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FFFFFF"/>
                </a:solidFill>
                <a:latin typeface="Consolas"/>
                <a:cs typeface="Consolas"/>
                <a:hlinkClick r:id="rId9"/>
              </a:rPr>
              <a:t>g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67709" y="4223765"/>
            <a:ext cx="6477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FFFFFF"/>
                </a:solidFill>
                <a:latin typeface="Consolas"/>
                <a:cs typeface="Consolas"/>
                <a:hlinkClick r:id="rId9"/>
              </a:rPr>
              <a:t>proseutotionsœ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36319"/>
            <a:ext cx="8124952" cy="331012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6095"/>
            <a:ext cx="8125459" cy="868680"/>
          </a:xfrm>
          <a:custGeom>
            <a:avLst/>
            <a:gdLst/>
            <a:ahLst/>
            <a:cxnLst/>
            <a:rect l="l" t="t" r="r" b="b"/>
            <a:pathLst>
              <a:path w="8125459" h="868680">
                <a:moveTo>
                  <a:pt x="8125968" y="868680"/>
                </a:moveTo>
                <a:lnTo>
                  <a:pt x="0" y="868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868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pc="-140">
                <a:latin typeface="Calibri"/>
                <a:cs typeface="Calibri"/>
              </a:rPr>
              <a:t>Real—</a:t>
            </a:r>
            <a:r>
              <a:rPr dirty="0" spc="-80">
                <a:latin typeface="Calibri"/>
                <a:cs typeface="Calibri"/>
              </a:rPr>
              <a:t>World</a:t>
            </a:r>
            <a:r>
              <a:rPr dirty="0" spc="18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Applications</a:t>
            </a:r>
            <a:r>
              <a:rPr dirty="0" spc="1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30">
                <a:latin typeface="Calibri"/>
                <a:cs typeface="Calibri"/>
              </a:rPr>
              <a:t> </a:t>
            </a:r>
            <a:r>
              <a:rPr dirty="0" spc="65">
                <a:latin typeface="Calibri"/>
                <a:cs typeface="Calibri"/>
              </a:rPr>
              <a:t>Pandas</a:t>
            </a:r>
          </a:p>
          <a:p>
            <a:pPr marL="17145">
              <a:lnSpc>
                <a:spcPct val="100000"/>
              </a:lnSpc>
              <a:spcBef>
                <a:spcPts val="465"/>
              </a:spcBef>
            </a:pPr>
            <a:r>
              <a:rPr dirty="0" sz="950" spc="-30"/>
              <a:t>Pandas'</a:t>
            </a:r>
            <a:r>
              <a:rPr dirty="0" sz="950" spc="25"/>
              <a:t> </a:t>
            </a:r>
            <a:r>
              <a:rPr dirty="0" sz="950"/>
              <a:t>versatility</a:t>
            </a:r>
            <a:r>
              <a:rPr dirty="0" sz="950" spc="40"/>
              <a:t> </a:t>
            </a:r>
            <a:r>
              <a:rPr dirty="0" sz="950" spc="-20"/>
              <a:t>across</a:t>
            </a:r>
            <a:r>
              <a:rPr dirty="0" sz="950"/>
              <a:t> </a:t>
            </a:r>
            <a:r>
              <a:rPr dirty="0" sz="950" spc="-10"/>
              <a:t>various</a:t>
            </a:r>
            <a:r>
              <a:rPr dirty="0" sz="950" spc="55"/>
              <a:t> </a:t>
            </a:r>
            <a:r>
              <a:rPr dirty="0" sz="950" spc="-10"/>
              <a:t>sectors</a:t>
            </a:r>
            <a:endParaRPr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93519"/>
            <a:ext cx="8128000" cy="2322576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0" y="371856"/>
            <a:ext cx="8125459" cy="253365"/>
          </a:xfrm>
          <a:custGeom>
            <a:avLst/>
            <a:gdLst/>
            <a:ahLst/>
            <a:cxnLst/>
            <a:rect l="l" t="t" r="r" b="b"/>
            <a:pathLst>
              <a:path w="8125459" h="253365">
                <a:moveTo>
                  <a:pt x="8125968" y="252984"/>
                </a:moveTo>
                <a:lnTo>
                  <a:pt x="0" y="252984"/>
                </a:lnTo>
                <a:lnTo>
                  <a:pt x="0" y="0"/>
                </a:lnTo>
                <a:lnTo>
                  <a:pt x="8125968" y="0"/>
                </a:lnTo>
                <a:lnTo>
                  <a:pt x="8125968" y="252984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779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Key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Performance</a:t>
            </a:r>
            <a:r>
              <a:rPr dirty="0" sz="2200" spc="20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Considerations </a:t>
            </a:r>
            <a:r>
              <a:rPr dirty="0" sz="2200" spc="-75">
                <a:latin typeface="Calibri"/>
                <a:cs typeface="Calibri"/>
              </a:rPr>
              <a:t>for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 spc="45">
                <a:latin typeface="Calibri"/>
                <a:cs typeface="Calibri"/>
              </a:rPr>
              <a:t>Pandas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731519"/>
            <a:ext cx="8125459" cy="125095"/>
          </a:xfrm>
          <a:custGeom>
            <a:avLst/>
            <a:gdLst/>
            <a:ahLst/>
            <a:cxnLst/>
            <a:rect l="l" t="t" r="r" b="b"/>
            <a:pathLst>
              <a:path w="8125459" h="125094">
                <a:moveTo>
                  <a:pt x="8125968" y="124968"/>
                </a:moveTo>
                <a:lnTo>
                  <a:pt x="0" y="124968"/>
                </a:lnTo>
                <a:lnTo>
                  <a:pt x="0" y="0"/>
                </a:lnTo>
                <a:lnTo>
                  <a:pt x="8125968" y="0"/>
                </a:lnTo>
                <a:lnTo>
                  <a:pt x="8125968" y="124968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684814" y="699008"/>
            <a:ext cx="54413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Here's</a:t>
            </a:r>
            <a:r>
              <a:rPr dirty="0" sz="900" spc="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dirty="0" sz="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dirty="0" sz="9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9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dirty="0" sz="9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additional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context</a:t>
            </a:r>
            <a:r>
              <a:rPr dirty="0" sz="9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9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dirty="0" sz="9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dirty="0" sz="9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9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dirty="0" sz="9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Enhanced</a:t>
            </a:r>
            <a:r>
              <a:rPr dirty="0" sz="900" spc="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concise</a:t>
            </a:r>
            <a:r>
              <a:rPr dirty="0" sz="9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head</a:t>
            </a:r>
            <a:r>
              <a:rPr dirty="0" sz="90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line.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3877055"/>
            <a:ext cx="8125459" cy="685800"/>
          </a:xfrm>
          <a:custGeom>
            <a:avLst/>
            <a:gdLst/>
            <a:ahLst/>
            <a:cxnLst/>
            <a:rect l="l" t="t" r="r" b="b"/>
            <a:pathLst>
              <a:path w="8125459" h="685800">
                <a:moveTo>
                  <a:pt x="8125968" y="685800"/>
                </a:moveTo>
                <a:lnTo>
                  <a:pt x="0" y="685800"/>
                </a:lnTo>
                <a:lnTo>
                  <a:pt x="0" y="0"/>
                </a:lnTo>
                <a:lnTo>
                  <a:pt x="8125968" y="0"/>
                </a:lnTo>
                <a:lnTo>
                  <a:pt x="8125968" y="685800"/>
                </a:lnTo>
                <a:close/>
              </a:path>
            </a:pathLst>
          </a:custGeom>
          <a:solidFill>
            <a:srgbClr val="2A2D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720870" y="4223765"/>
            <a:ext cx="1035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30">
                <a:solidFill>
                  <a:srgbClr val="FFFFFF"/>
                </a:solidFill>
                <a:latin typeface="Consolas"/>
                <a:cs typeface="Consolas"/>
                <a:hlinkClick r:id="rId3"/>
              </a:rPr>
              <a:t>ea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38748" y="4223765"/>
            <a:ext cx="577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FFFFFF"/>
                </a:solidFill>
                <a:latin typeface="Consolas"/>
                <a:cs typeface="Consolas"/>
                <a:hlinkClick r:id="rId3"/>
              </a:rPr>
              <a:t>g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7709" y="4223765"/>
            <a:ext cx="6477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FFFFFF"/>
                </a:solidFill>
                <a:latin typeface="Consolas"/>
                <a:cs typeface="Consolas"/>
                <a:hlinkClick r:id="rId3"/>
              </a:rPr>
              <a:t>proseutotionsœ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43200"/>
            <a:ext cx="8128000" cy="3535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93392"/>
            <a:ext cx="8128000" cy="359663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6095"/>
            <a:ext cx="8125459" cy="868680"/>
          </a:xfrm>
          <a:custGeom>
            <a:avLst/>
            <a:gdLst/>
            <a:ahLst/>
            <a:cxnLst/>
            <a:rect l="l" t="t" r="r" b="b"/>
            <a:pathLst>
              <a:path w="8125459" h="868680">
                <a:moveTo>
                  <a:pt x="8125968" y="868680"/>
                </a:moveTo>
                <a:lnTo>
                  <a:pt x="0" y="868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868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05">
                <a:latin typeface="Calibri"/>
                <a:cs typeface="Calibri"/>
              </a:rPr>
              <a:t>Pandas</a:t>
            </a:r>
            <a:r>
              <a:rPr dirty="0" sz="2100" spc="80">
                <a:latin typeface="Calibri"/>
                <a:cs typeface="Calibri"/>
              </a:rPr>
              <a:t> </a:t>
            </a:r>
            <a:r>
              <a:rPr dirty="0" sz="2100" spc="65">
                <a:latin typeface="Calibri"/>
                <a:cs typeface="Calibri"/>
              </a:rPr>
              <a:t>vs</a:t>
            </a:r>
            <a:r>
              <a:rPr dirty="0" sz="2100" spc="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Other</a:t>
            </a:r>
            <a:r>
              <a:rPr dirty="0" sz="2100" spc="125">
                <a:latin typeface="Calibri"/>
                <a:cs typeface="Calibri"/>
              </a:rPr>
              <a:t> </a:t>
            </a:r>
            <a:r>
              <a:rPr dirty="0" sz="2100" spc="95">
                <a:latin typeface="Calibri"/>
                <a:cs typeface="Calibri"/>
              </a:rPr>
              <a:t>Data</a:t>
            </a:r>
            <a:r>
              <a:rPr dirty="0" sz="2100" spc="1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Analysis</a:t>
            </a:r>
            <a:r>
              <a:rPr dirty="0" sz="2100" spc="105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Libraries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1030224"/>
            <a:ext cx="8125459" cy="131445"/>
          </a:xfrm>
          <a:custGeom>
            <a:avLst/>
            <a:gdLst/>
            <a:ahLst/>
            <a:cxnLst/>
            <a:rect l="l" t="t" r="r" b="b"/>
            <a:pathLst>
              <a:path w="8125459" h="131444">
                <a:moveTo>
                  <a:pt x="8125968" y="131064"/>
                </a:moveTo>
                <a:lnTo>
                  <a:pt x="0" y="131064"/>
                </a:lnTo>
                <a:lnTo>
                  <a:pt x="0" y="0"/>
                </a:lnTo>
                <a:lnTo>
                  <a:pt x="8125968" y="0"/>
                </a:lnTo>
                <a:lnTo>
                  <a:pt x="8125968" y="131064"/>
                </a:lnTo>
                <a:close/>
              </a:path>
            </a:pathLst>
          </a:custGeom>
          <a:solidFill>
            <a:srgbClr val="33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75819" y="981964"/>
            <a:ext cx="578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Strengths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10449" y="981964"/>
            <a:ext cx="7473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Weaknesses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1231391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80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33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76733" y="1196340"/>
            <a:ext cx="24479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dirty="0" sz="8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excels</a:t>
            </a:r>
            <a:r>
              <a:rPr dirty="0" sz="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manipulation</a:t>
            </a:r>
            <a:r>
              <a:rPr dirty="0" sz="8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with labeled</a:t>
            </a:r>
            <a:r>
              <a:rPr dirty="0" sz="8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axes,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25921" y="1189990"/>
            <a:ext cx="23387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powerful,</a:t>
            </a:r>
            <a:r>
              <a:rPr dirty="0" sz="8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5">
                <a:solidFill>
                  <a:srgbClr val="FFFFFF"/>
                </a:solidFill>
                <a:latin typeface="Arial MT"/>
                <a:cs typeface="Arial MT"/>
              </a:rPr>
              <a:t>Pandas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struggle</a:t>
            </a:r>
            <a:r>
              <a:rPr dirty="0" sz="8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 large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1377696"/>
            <a:ext cx="8125459" cy="113030"/>
          </a:xfrm>
          <a:custGeom>
            <a:avLst/>
            <a:gdLst/>
            <a:ahLst/>
            <a:cxnLst/>
            <a:rect l="l" t="t" r="r" b="b"/>
            <a:pathLst>
              <a:path w="8125459" h="113030">
                <a:moveTo>
                  <a:pt x="8125968" y="112776"/>
                </a:moveTo>
                <a:lnTo>
                  <a:pt x="0" y="112776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2776"/>
                </a:lnTo>
                <a:close/>
              </a:path>
            </a:pathLst>
          </a:custGeom>
          <a:solidFill>
            <a:srgbClr val="34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77455" y="1339342"/>
            <a:ext cx="23031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making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suitable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dirty="0" sz="8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r>
              <a:rPr dirty="0" sz="8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62024" y="1339342"/>
            <a:ext cx="24980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datasets</a:t>
            </a:r>
            <a:r>
              <a:rPr dirty="0" sz="8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8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terms of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dirty="0" sz="8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FFFFFF"/>
                </a:solidFill>
                <a:latin typeface="Arial MT"/>
                <a:cs typeface="Arial MT"/>
              </a:rPr>
              <a:t>compared</a:t>
            </a:r>
            <a:r>
              <a:rPr dirty="0" sz="8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8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libraries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0" y="1524000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80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33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71467" y="1485645"/>
            <a:ext cx="4076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-120">
                <a:solidFill>
                  <a:srgbClr val="FFFFFF"/>
                </a:solidFill>
                <a:latin typeface="Consolas"/>
                <a:cs typeface="Consolas"/>
              </a:rPr>
              <a:t>analysis.</a:t>
            </a:r>
            <a:endParaRPr sz="85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86644" y="1491995"/>
            <a:ext cx="8820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like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Dask</a:t>
            </a:r>
            <a:r>
              <a:rPr dirty="0" sz="8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Vaex.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0" y="3328415"/>
            <a:ext cx="8125459" cy="100965"/>
          </a:xfrm>
          <a:prstGeom prst="rect">
            <a:avLst/>
          </a:prstGeom>
          <a:solidFill>
            <a:srgbClr val="343870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463550">
              <a:lnSpc>
                <a:spcPts val="790"/>
              </a:lnSpc>
            </a:pP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Threats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3468623"/>
            <a:ext cx="8125459" cy="173990"/>
          </a:xfrm>
          <a:custGeom>
            <a:avLst/>
            <a:gdLst/>
            <a:ahLst/>
            <a:cxnLst/>
            <a:rect l="l" t="t" r="r" b="b"/>
            <a:pathLst>
              <a:path w="8125459" h="173989">
                <a:moveTo>
                  <a:pt x="8125968" y="173736"/>
                </a:moveTo>
                <a:lnTo>
                  <a:pt x="0" y="173736"/>
                </a:lnTo>
                <a:lnTo>
                  <a:pt x="0" y="0"/>
                </a:lnTo>
                <a:lnTo>
                  <a:pt x="8125968" y="0"/>
                </a:lnTo>
                <a:lnTo>
                  <a:pt x="8125968" y="173736"/>
                </a:lnTo>
                <a:close/>
              </a:path>
            </a:pathLst>
          </a:custGeom>
          <a:solidFill>
            <a:srgbClr val="34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72030" y="3423158"/>
            <a:ext cx="81406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Opportunities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199842" y="3491229"/>
            <a:ext cx="246189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Emerging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 libraries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dirty="0" sz="8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85">
                <a:solidFill>
                  <a:srgbClr val="FFFFFF"/>
                </a:solidFill>
                <a:latin typeface="Arial MT"/>
                <a:cs typeface="Arial MT"/>
              </a:rPr>
              <a:t>Vaex</a:t>
            </a:r>
            <a:r>
              <a:rPr dirty="0" sz="8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FFFFFF"/>
                </a:solidFill>
                <a:latin typeface="Arial MT"/>
                <a:cs typeface="Arial MT"/>
              </a:rPr>
              <a:t>Dask</a:t>
            </a:r>
            <a:r>
              <a:rPr dirty="0" sz="8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FFFFFF"/>
                </a:solidFill>
                <a:latin typeface="Arial MT"/>
                <a:cs typeface="Arial MT"/>
              </a:rPr>
              <a:t>offer</a:t>
            </a:r>
            <a:r>
              <a:rPr dirty="0" sz="8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FFFFFF"/>
                </a:solidFill>
                <a:latin typeface="Arial MT"/>
                <a:cs typeface="Arial MT"/>
              </a:rPr>
              <a:t>specialized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0" y="3675888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79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77731" y="3643883"/>
            <a:ext cx="25304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dirty="0" sz="8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8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  <a:r>
              <a:rPr dirty="0" sz="8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8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libraries</a:t>
            </a:r>
            <a:r>
              <a:rPr dirty="0" sz="8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dirty="0" sz="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Calibri"/>
                <a:cs typeface="Calibri"/>
              </a:rPr>
              <a:t>1odin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264451" y="3643883"/>
            <a:ext cx="24053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functionalities</a:t>
            </a:r>
            <a:r>
              <a:rPr dirty="0" sz="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8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dirty="0" sz="8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appeal</a:t>
            </a:r>
            <a:r>
              <a:rPr dirty="0" sz="8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dirty="0" sz="8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Calibri"/>
                <a:cs typeface="Calibri"/>
              </a:rPr>
              <a:t>needing</a:t>
            </a:r>
            <a:r>
              <a:rPr dirty="0" sz="8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0" y="3822191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79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474290" y="3796538"/>
            <a:ext cx="24155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50" spc="50">
                <a:solidFill>
                  <a:srgbClr val="FFFFFF"/>
                </a:solidFill>
                <a:latin typeface="Calibri"/>
                <a:cs typeface="Calibri"/>
              </a:rPr>
              <a:t>opens</a:t>
            </a:r>
            <a:r>
              <a:rPr dirty="0" sz="75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5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dirty="0" sz="75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FFFFFF"/>
                </a:solidFill>
                <a:latin typeface="Calibri"/>
                <a:cs typeface="Calibri"/>
              </a:rPr>
              <a:t>possibilities</a:t>
            </a:r>
            <a:r>
              <a:rPr dirty="0" sz="75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75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FFFFFF"/>
                </a:solidFill>
                <a:latin typeface="Calibri"/>
                <a:cs typeface="Calibri"/>
              </a:rPr>
              <a:t>enhanced</a:t>
            </a:r>
            <a:r>
              <a:rPr dirty="0" sz="75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2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dirty="0" sz="750" spc="2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234314" y="3790188"/>
            <a:ext cx="24377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dirty="0" sz="8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8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dirty="0" sz="8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datasets,</a:t>
            </a:r>
            <a:r>
              <a:rPr dirty="0" sz="8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posing</a:t>
            </a:r>
            <a:r>
              <a:rPr dirty="0" sz="8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Calibri"/>
                <a:cs typeface="Calibri"/>
              </a:rPr>
              <a:t>competition</a:t>
            </a:r>
            <a:r>
              <a:rPr dirty="0" sz="8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0" y="3974591"/>
            <a:ext cx="8125459" cy="106680"/>
          </a:xfrm>
          <a:custGeom>
            <a:avLst/>
            <a:gdLst/>
            <a:ahLst/>
            <a:cxnLst/>
            <a:rect l="l" t="t" r="r" b="b"/>
            <a:pathLst>
              <a:path w="8125459" h="106679">
                <a:moveTo>
                  <a:pt x="8125968" y="106680"/>
                </a:moveTo>
                <a:lnTo>
                  <a:pt x="0" y="106680"/>
                </a:lnTo>
                <a:lnTo>
                  <a:pt x="0" y="0"/>
                </a:lnTo>
                <a:lnTo>
                  <a:pt x="8125968" y="0"/>
                </a:lnTo>
                <a:lnTo>
                  <a:pt x="8125968" y="106680"/>
                </a:lnTo>
                <a:close/>
              </a:path>
            </a:pathLst>
          </a:custGeom>
          <a:solidFill>
            <a:srgbClr val="3438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478593" y="3942841"/>
            <a:ext cx="12109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scalability</a:t>
            </a:r>
            <a:r>
              <a:rPr dirty="0" sz="75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750" spc="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7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analysis.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297304" y="3936491"/>
            <a:ext cx="3797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Consolas"/>
                <a:cs typeface="Consolas"/>
              </a:rPr>
              <a:t>Pandas.</a:t>
            </a:r>
            <a:endParaRPr sz="800">
              <a:latin typeface="Consolas"/>
              <a:cs typeface="Consolas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0" y="4224528"/>
            <a:ext cx="8125459" cy="119380"/>
          </a:xfrm>
          <a:custGeom>
            <a:avLst/>
            <a:gdLst/>
            <a:ahLst/>
            <a:cxnLst/>
            <a:rect l="l" t="t" r="r" b="b"/>
            <a:pathLst>
              <a:path w="8125459" h="119379">
                <a:moveTo>
                  <a:pt x="8125968" y="118872"/>
                </a:moveTo>
                <a:lnTo>
                  <a:pt x="0" y="118872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8872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720870" y="4223765"/>
            <a:ext cx="1035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30">
                <a:solidFill>
                  <a:srgbClr val="FFFFFF"/>
                </a:solidFill>
                <a:latin typeface="Consolas"/>
                <a:cs typeface="Consolas"/>
                <a:hlinkClick r:id="rId4"/>
              </a:rPr>
              <a:t>ea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38748" y="4223765"/>
            <a:ext cx="577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FFFFFF"/>
                </a:solidFill>
                <a:latin typeface="Consolas"/>
                <a:cs typeface="Consolas"/>
                <a:hlinkClick r:id="rId4"/>
              </a:rPr>
              <a:t>g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67709" y="4223765"/>
            <a:ext cx="6477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FFFFFF"/>
                </a:solidFill>
                <a:latin typeface="Consolas"/>
                <a:cs typeface="Consolas"/>
                <a:hlinkClick r:id="rId4"/>
              </a:rPr>
              <a:t>proseutotionsœ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164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Emerging</a:t>
            </a:r>
            <a:r>
              <a:rPr dirty="0" spc="-55"/>
              <a:t> </a:t>
            </a:r>
            <a:r>
              <a:rPr dirty="0" spc="-135"/>
              <a:t>Trends</a:t>
            </a:r>
            <a:r>
              <a:rPr dirty="0" spc="-15"/>
              <a:t> </a:t>
            </a:r>
            <a:r>
              <a:rPr dirty="0" spc="-80"/>
              <a:t>in</a:t>
            </a:r>
            <a:r>
              <a:rPr dirty="0" spc="-75"/>
              <a:t> </a:t>
            </a:r>
            <a:r>
              <a:rPr dirty="0" spc="-25"/>
              <a:t>Data</a:t>
            </a:r>
            <a:r>
              <a:rPr dirty="0" spc="-20"/>
              <a:t> </a:t>
            </a:r>
            <a:r>
              <a:rPr dirty="0" spc="-120"/>
              <a:t>Analysis</a:t>
            </a:r>
            <a:r>
              <a:rPr dirty="0"/>
              <a:t> </a:t>
            </a:r>
            <a:r>
              <a:rPr dirty="0" spc="-60"/>
              <a:t>with</a:t>
            </a:r>
            <a:r>
              <a:rPr dirty="0" spc="-90"/>
              <a:t> </a:t>
            </a:r>
            <a:r>
              <a:rPr dirty="0" spc="-40"/>
              <a:t>Pandas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0" y="1999488"/>
            <a:ext cx="8125459" cy="88900"/>
          </a:xfrm>
          <a:custGeom>
            <a:avLst/>
            <a:gdLst/>
            <a:ahLst/>
            <a:cxnLst/>
            <a:rect l="l" t="t" r="r" b="b"/>
            <a:pathLst>
              <a:path w="8125459" h="88900">
                <a:moveTo>
                  <a:pt x="8125968" y="88392"/>
                </a:moveTo>
                <a:lnTo>
                  <a:pt x="0" y="88392"/>
                </a:lnTo>
                <a:lnTo>
                  <a:pt x="0" y="0"/>
                </a:lnTo>
                <a:lnTo>
                  <a:pt x="8125968" y="0"/>
                </a:lnTo>
                <a:lnTo>
                  <a:pt x="8125968" y="88392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0" y="1999488"/>
          <a:ext cx="8201659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005"/>
                <a:gridCol w="2552699"/>
                <a:gridCol w="2992754"/>
              </a:tblGrid>
              <a:tr h="180975">
                <a:tc>
                  <a:txBody>
                    <a:bodyPr/>
                    <a:lstStyle/>
                    <a:p>
                      <a:pPr marL="516255" indent="-90805">
                        <a:lnSpc>
                          <a:spcPts val="795"/>
                        </a:lnSpc>
                        <a:buChar char="•"/>
                        <a:tabLst>
                          <a:tab pos="516255" algn="l"/>
                        </a:tabLst>
                      </a:pPr>
                      <a:r>
                        <a:rPr dirty="0" sz="8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4180" indent="-87630">
                        <a:lnSpc>
                          <a:spcPts val="795"/>
                        </a:lnSpc>
                        <a:buChar char="•"/>
                        <a:tabLst>
                          <a:tab pos="424180" algn="l"/>
                        </a:tabLst>
                      </a:pP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2024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3695" indent="-96520">
                        <a:lnSpc>
                          <a:spcPts val="795"/>
                        </a:lnSpc>
                        <a:buChar char="•"/>
                        <a:tabLst>
                          <a:tab pos="353695" algn="l"/>
                        </a:tabLst>
                      </a:pPr>
                      <a:r>
                        <a:rPr dirty="0" sz="85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2025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98120">
                <a:tc>
                  <a:txBody>
                    <a:bodyPr/>
                    <a:lstStyle/>
                    <a:p>
                      <a:pPr marL="379095">
                        <a:lnSpc>
                          <a:spcPts val="1160"/>
                        </a:lnSpc>
                      </a:pPr>
                      <a:r>
                        <a:rPr dirty="0" sz="10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Enhanced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</a:pPr>
                      <a:r>
                        <a:rPr dirty="0" sz="95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Integration</a:t>
                      </a:r>
                      <a:r>
                        <a:rPr dirty="0" sz="950" spc="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6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ML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16535">
                        <a:lnSpc>
                          <a:spcPts val="1170"/>
                        </a:lnSpc>
                      </a:pP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Experience</a:t>
                      </a:r>
                      <a:r>
                        <a:rPr dirty="0" sz="11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Improvements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7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Future</a:t>
                      </a:r>
                      <a:r>
                        <a:rPr dirty="0" sz="750" spc="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versions</a:t>
                      </a:r>
                      <a:r>
                        <a:rPr dirty="0" sz="750" spc="1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50" spc="8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Pandas</a:t>
                      </a:r>
                      <a:r>
                        <a:rPr dirty="0" sz="750" spc="1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75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enhance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1905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85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Pandas</a:t>
                      </a:r>
                      <a:r>
                        <a:rPr dirty="0" sz="85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85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expected</a:t>
                      </a:r>
                      <a:r>
                        <a:rPr dirty="0" sz="850" spc="-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integrate</a:t>
                      </a:r>
                      <a:r>
                        <a:rPr dirty="0" sz="850" spc="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closely</a:t>
                      </a:r>
                      <a:r>
                        <a:rPr dirty="0" sz="8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8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Continued</a:t>
                      </a:r>
                      <a:r>
                        <a:rPr dirty="0" sz="800" spc="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API</a:t>
                      </a:r>
                      <a:r>
                        <a:rPr dirty="0" sz="8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enhancements</a:t>
                      </a:r>
                      <a:r>
                        <a:rPr dirty="0" sz="80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8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improve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1270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marL="382270">
                        <a:lnSpc>
                          <a:spcPts val="960"/>
                        </a:lnSpc>
                      </a:pPr>
                      <a:r>
                        <a:rPr dirty="0" sz="9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dirty="0" sz="90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larger</a:t>
                      </a:r>
                      <a:r>
                        <a:rPr dirty="0" sz="900" spc="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datasets</a:t>
                      </a:r>
                      <a:r>
                        <a:rPr dirty="0" sz="900" spc="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8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multi-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ts val="950"/>
                        </a:lnSpc>
                      </a:pPr>
                      <a:r>
                        <a:rPr dirty="0" sz="8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TensorFlow</a:t>
                      </a:r>
                      <a:r>
                        <a:rPr dirty="0" sz="850" spc="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PyTorch</a:t>
                      </a:r>
                      <a:r>
                        <a:rPr dirty="0" sz="850" spc="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85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preparation.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 marL="220979">
                        <a:lnSpc>
                          <a:spcPts val="950"/>
                        </a:lnSpc>
                      </a:pPr>
                      <a:r>
                        <a:rPr dirty="0" sz="85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usability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consistency</a:t>
                      </a:r>
                      <a:r>
                        <a:rPr dirty="0" sz="850" spc="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for users.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2A2D6B"/>
                    </a:solidFill>
                  </a:tcPr>
                </a:tc>
              </a:tr>
              <a:tr h="127635">
                <a:tc>
                  <a:txBody>
                    <a:bodyPr/>
                    <a:lstStyle/>
                    <a:p>
                      <a:pPr marL="381635">
                        <a:lnSpc>
                          <a:spcPts val="894"/>
                        </a:lnSpc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threading.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A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2A2D6B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0" y="4224528"/>
            <a:ext cx="8125459" cy="119380"/>
          </a:xfrm>
          <a:custGeom>
            <a:avLst/>
            <a:gdLst/>
            <a:ahLst/>
            <a:cxnLst/>
            <a:rect l="l" t="t" r="r" b="b"/>
            <a:pathLst>
              <a:path w="8125459" h="119379">
                <a:moveTo>
                  <a:pt x="8125968" y="118872"/>
                </a:moveTo>
                <a:lnTo>
                  <a:pt x="0" y="118872"/>
                </a:lnTo>
                <a:lnTo>
                  <a:pt x="0" y="0"/>
                </a:lnTo>
                <a:lnTo>
                  <a:pt x="8125968" y="0"/>
                </a:lnTo>
                <a:lnTo>
                  <a:pt x="8125968" y="118872"/>
                </a:lnTo>
                <a:close/>
              </a:path>
            </a:pathLst>
          </a:custGeom>
          <a:solidFill>
            <a:srgbClr val="2A2D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720870" y="4223765"/>
            <a:ext cx="10350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3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ea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38748" y="4223765"/>
            <a:ext cx="5778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g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67709" y="4223765"/>
            <a:ext cx="647700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FFFFFF"/>
                </a:solidFill>
                <a:latin typeface="Consolas"/>
                <a:cs typeface="Consolas"/>
                <a:hlinkClick r:id="rId2"/>
              </a:rPr>
              <a:t>proseutotionsœ</a:t>
            </a:r>
            <a:endParaRPr sz="6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2025-04-18T06:38:41Z</dcterms:created>
  <dcterms:modified xsi:type="dcterms:W3CDTF">2025-04-18T06:38:41Z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2025-04-18T00:00:00Z</vt:filetime>
  </property>
</Properties>
</file>